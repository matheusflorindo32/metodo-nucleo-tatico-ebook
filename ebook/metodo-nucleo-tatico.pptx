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70" d="100"/>
          <a:sy n="70" d="100"/>
        </p:scale>
        <p:origin x="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  <p:sp>
        <p:nvSpPr>
          <p:cNvPr id="100" name="AccentBarTop"/>
          <p:cNvSpPr/>
          <p:nvPr/>
        </p:nvSpPr>
        <p:spPr>
          <a:xfrm>
            <a:off x="0" y="0"/>
            <a:ext cx="9601200" cy="5715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VertAccent"/>
          <p:cNvSpPr/>
          <p:nvPr/>
        </p:nvSpPr>
        <p:spPr>
          <a:xfrm>
            <a:off x="342900" y="57150"/>
            <a:ext cx="19050" cy="12744450"/>
          </a:xfrm>
          <a:prstGeom prst="rect">
            <a:avLst/>
          </a:prstGeom>
          <a:solidFill>
            <a:srgbClr val="4A7C3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C8C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C8C8C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1" name="topbar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3" name="brand"/>
          <p:cNvSpPr/>
          <p:nvPr/>
        </p:nvSpPr>
        <p:spPr>
          <a:xfrm>
            <a:off x="1270000" y="1270000"/>
            <a:ext cx="965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1600" b="1" spc="800" dirty="0">
                <a:solidFill>
                  <a:srgbClr val="4A7C3F"/>
                </a:solidFill>
                <a:latin typeface="Segoe UI"/>
              </a:rPr>
              <a:t>N Ú C L E O   T Á T I C O</a:t>
            </a:r>
          </a:p>
        </p:txBody>
      </p:sp>
      <p:sp>
        <p:nvSpPr>
          <p:cNvPr id="104" name="divline"/>
          <p:cNvSpPr/>
          <p:nvPr/>
        </p:nvSpPr>
        <p:spPr>
          <a:xfrm>
            <a:off x="3556000" y="1803400"/>
            <a:ext cx="50800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5" name="t1"/>
          <p:cNvSpPr/>
          <p:nvPr/>
        </p:nvSpPr>
        <p:spPr>
          <a:xfrm>
            <a:off x="1270000" y="2095500"/>
            <a:ext cx="965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4000" b="1" dirty="0">
                <a:solidFill>
                  <a:srgbClr val="E8791D"/>
                </a:solidFill>
                <a:latin typeface="Impact"/>
              </a:rPr>
              <a:t>MÉTODO</a:t>
            </a:r>
          </a:p>
        </p:txBody>
      </p:sp>
      <p:sp>
        <p:nvSpPr>
          <p:cNvPr id="106" name="t2"/>
          <p:cNvSpPr/>
          <p:nvPr/>
        </p:nvSpPr>
        <p:spPr>
          <a:xfrm>
            <a:off x="1270000" y="2857500"/>
            <a:ext cx="965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5400" b="1" dirty="0">
                <a:solidFill>
                  <a:srgbClr val="F0F0F0"/>
                </a:solidFill>
                <a:latin typeface="Impact"/>
              </a:rPr>
              <a:t>NÚCLEO TÁTICO</a:t>
            </a:r>
          </a:p>
        </p:txBody>
      </p:sp>
      <p:sp>
        <p:nvSpPr>
          <p:cNvPr id="107" name="sub"/>
          <p:cNvSpPr/>
          <p:nvPr/>
        </p:nvSpPr>
        <p:spPr>
          <a:xfrm>
            <a:off x="1270000" y="4038600"/>
            <a:ext cx="965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1400" dirty="0">
                <a:solidFill>
                  <a:srgbClr val="D0D0D0"/>
                </a:solidFill>
                <a:latin typeface="Segoe UI"/>
              </a:rPr>
              <a:t>Engenharia Estratégica de Estudos para Carreiras Policiais</a:t>
            </a:r>
          </a:p>
        </p:txBody>
      </p:sp>
      <p:sp>
        <p:nvSpPr>
          <p:cNvPr id="108" name="div2"/>
          <p:cNvSpPr/>
          <p:nvPr/>
        </p:nvSpPr>
        <p:spPr>
          <a:xfrm>
            <a:off x="4826000" y="4597400"/>
            <a:ext cx="2540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9" name="author"/>
          <p:cNvSpPr/>
          <p:nvPr/>
        </p:nvSpPr>
        <p:spPr>
          <a:xfrm>
            <a:off x="1270000" y="4800600"/>
            <a:ext cx="965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Segoe UI"/>
              </a:rPr>
              <a:t>Matheus Florindo de Deus</a:t>
            </a:r>
          </a:p>
          <a:p>
            <a:pPr algn="ctr">
              <a:buNone/>
            </a:pPr>
            <a:r>
              <a:rPr lang="pt-BR" sz="1100" dirty="0">
                <a:solidFill>
                  <a:srgbClr val="A0A0A0"/>
                </a:solidFill>
                <a:latin typeface="Segoe UI"/>
              </a:rPr>
              <a:t>Fundador da Tropa Científica</a:t>
            </a:r>
          </a:p>
        </p:txBody>
      </p:sp>
      <p:sp>
        <p:nvSpPr>
          <p:cNvPr id="110" name="tropa"/>
          <p:cNvSpPr/>
          <p:nvPr/>
        </p:nvSpPr>
        <p:spPr>
          <a:xfrm>
            <a:off x="1270000" y="5651500"/>
            <a:ext cx="9652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900" spc="400" dirty="0">
                <a:solidFill>
                  <a:srgbClr val="555555"/>
                </a:solidFill>
                <a:latin typeface="Segoe UI"/>
              </a:rPr>
              <a:t>TROPA CIENTÍFICA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27800"/>
            <a:ext cx="1219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149932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1" name="top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02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1000" b="1" spc="400" dirty="0">
                <a:solidFill>
                  <a:srgbClr val="4A7C3F"/>
                </a:solidFill>
                <a:latin typeface="Segoe UI"/>
              </a:rPr>
              <a:t>MANIFESTO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5" name="quote"/>
          <p:cNvSpPr/>
          <p:nvPr/>
        </p:nvSpPr>
        <p:spPr>
          <a:xfrm>
            <a:off x="609600" y="8636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400" b="1" i="1" dirty="0">
                <a:solidFill>
                  <a:srgbClr val="F0F0F0"/>
                </a:solidFill>
                <a:latin typeface="Impact"/>
              </a:rPr>
              <a:t>"Aprovação não é sorte. É engenharia."</a:t>
            </a:r>
          </a:p>
        </p:txBody>
      </p:sp>
      <p:sp>
        <p:nvSpPr>
          <p:cNvPr id="106" name="accent"/>
          <p:cNvSpPr/>
          <p:nvPr/>
        </p:nvSpPr>
        <p:spPr>
          <a:xfrm>
            <a:off x="609600" y="1778000"/>
            <a:ext cx="10160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7" name="body"/>
          <p:cNvSpPr/>
          <p:nvPr/>
        </p:nvSpPr>
        <p:spPr>
          <a:xfrm>
            <a:off x="1016000" y="20320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2400"/>
              </a:lnSpc>
              <a:buNone/>
            </a:pPr>
            <a:r>
              <a:rPr lang="pt-BR" sz="1400" dirty="0">
                <a:solidFill>
                  <a:srgbClr val="C8C8C8"/>
                </a:solidFill>
                <a:latin typeface="Segoe UI"/>
              </a:rPr>
              <a:t>Você não precisa de mais conteúdo. Precisa de método.</a:t>
            </a:r>
          </a:p>
          <a:p>
            <a:pPr algn="l">
              <a:lnSpc>
                <a:spcPts val="1200"/>
              </a:lnSpc>
              <a:buNone/>
            </a:pPr>
            <a:endParaRPr lang="pt-BR" sz="1400" dirty="0">
              <a:solidFill>
                <a:srgbClr val="C8C8C8"/>
              </a:solidFill>
              <a:latin typeface="Segoe UI"/>
            </a:endParaRPr>
          </a:p>
          <a:p>
            <a:pPr algn="l">
              <a:lnSpc>
                <a:spcPts val="2400"/>
              </a:lnSpc>
              <a:buNone/>
            </a:pPr>
            <a:r>
              <a:rPr lang="pt-BR" sz="1400" dirty="0">
                <a:solidFill>
                  <a:srgbClr val="C8C8C8"/>
                </a:solidFill>
                <a:latin typeface="Segoe UI"/>
              </a:rPr>
              <a:t>O Núcleo Tático nasceu da conviccao de que disciplina vence talento quando talento nao tem disciplina. Cada hora de estudo deve ser planejada, executada e mensurada.</a:t>
            </a:r>
          </a:p>
          <a:p>
            <a:pPr algn="l">
              <a:lnSpc>
                <a:spcPts val="1200"/>
              </a:lnSpc>
              <a:buNone/>
            </a:pPr>
            <a:endParaRPr lang="pt-BR" sz="1400" dirty="0">
              <a:solidFill>
                <a:srgbClr val="C8C8C8"/>
              </a:solidFill>
              <a:latin typeface="Segoe UI"/>
            </a:endParaRPr>
          </a:p>
          <a:p>
            <a:pPr algn="l">
              <a:lnSpc>
                <a:spcPts val="2400"/>
              </a:lnSpc>
              <a:buNone/>
            </a:pPr>
            <a:r>
              <a:rPr lang="pt-BR" sz="1400" dirty="0">
                <a:solidFill>
                  <a:srgbClr val="C8C8C8"/>
                </a:solidFill>
                <a:latin typeface="Segoe UI"/>
              </a:rPr>
              <a:t>Não acreditamos em fórmulas mágicas. Acreditamos em estratégia, constância e execução tática. Se você está pronto para parar de estudar no modo automático e começar a operar com precisão, este e-book é para você.</a:t>
            </a:r>
          </a:p>
          <a:p>
            <a:pPr algn="l">
              <a:lnSpc>
                <a:spcPts val="1200"/>
              </a:lnSpc>
              <a:buNone/>
            </a:pPr>
            <a:endParaRPr lang="pt-BR" sz="1400" dirty="0">
              <a:solidFill>
                <a:srgbClr val="C8C8C8"/>
              </a:solidFill>
              <a:latin typeface="Segoe UI"/>
            </a:endParaRPr>
          </a:p>
          <a:p>
            <a:pPr algn="l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Bem-vindo ao Núcleo Tático. A missao comeca agora.</a:t>
            </a:r>
          </a:p>
        </p:txBody>
      </p:sp>
      <p:sp>
        <p:nvSpPr>
          <p:cNvPr id="111" name="ft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12" name="footer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192637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1" name="top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03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1000" b="1" spc="300" dirty="0">
                <a:solidFill>
                  <a:srgbClr val="4A7C3F"/>
                </a:solidFill>
                <a:latin typeface="Segoe UI"/>
              </a:rPr>
              <a:t>O PROBLEMA DOS CANDIDATOS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Erros Estruturais Que Travam Sua Aprovação</a:t>
            </a:r>
          </a:p>
        </p:txBody>
      </p:sp>
      <p:sp>
        <p:nvSpPr>
          <p:cNvPr id="110" name="err0"/>
          <p:cNvSpPr/>
          <p:nvPr/>
        </p:nvSpPr>
        <p:spPr>
          <a:xfrm>
            <a:off x="609600" y="14986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01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Estudar sem cronograma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Sem planejamento, você acumula conteúdo sem retenção real.</a:t>
            </a:r>
          </a:p>
        </p:txBody>
      </p:sp>
      <p:sp>
        <p:nvSpPr>
          <p:cNvPr id="111" name="err1"/>
          <p:cNvSpPr/>
          <p:nvPr/>
        </p:nvSpPr>
        <p:spPr>
          <a:xfrm>
            <a:off x="4368800" y="14986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02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Ignorar revisão cíclica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A memória decai. Sem revisão programada, você esquece 80% em 30 dias.</a:t>
            </a:r>
          </a:p>
        </p:txBody>
      </p:sp>
      <p:sp>
        <p:nvSpPr>
          <p:cNvPr id="112" name="err2"/>
          <p:cNvSpPr/>
          <p:nvPr/>
        </p:nvSpPr>
        <p:spPr>
          <a:xfrm>
            <a:off x="8128000" y="14986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03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Não resolver questões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Teoria sem prática é conhecimento ilusório. Questões revelam a verdade.</a:t>
            </a:r>
          </a:p>
        </p:txBody>
      </p:sp>
      <p:sp>
        <p:nvSpPr>
          <p:cNvPr id="113" name="err3"/>
          <p:cNvSpPr/>
          <p:nvPr/>
        </p:nvSpPr>
        <p:spPr>
          <a:xfrm>
            <a:off x="609600" y="33528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04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Zero controle de métricas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Se você não mede, não gerencia. Sem dados, não há evolução.</a:t>
            </a:r>
          </a:p>
        </p:txBody>
      </p:sp>
      <p:sp>
        <p:nvSpPr>
          <p:cNvPr id="114" name="err4"/>
          <p:cNvSpPr/>
          <p:nvPr/>
        </p:nvSpPr>
        <p:spPr>
          <a:xfrm>
            <a:off x="4368800" y="33528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05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Estudar sem foco tático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Gastar horas em matérias de baixo peso enquanto ignora as decisivas.</a:t>
            </a:r>
          </a:p>
        </p:txBody>
      </p:sp>
      <p:sp>
        <p:nvSpPr>
          <p:cNvPr id="115" name="err5"/>
          <p:cNvSpPr/>
          <p:nvPr/>
        </p:nvSpPr>
        <p:spPr>
          <a:xfrm>
            <a:off x="8128000" y="33528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06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Desistir na reta final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Os últimos 30 dias são os mais importantes. É onde a maioria falha.</a:t>
            </a:r>
          </a:p>
        </p:txBody>
      </p:sp>
      <p:sp>
        <p:nvSpPr>
          <p:cNvPr id="130" name="ft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31" name="footer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57482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04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1000" b="1" spc="300" dirty="0">
                <a:solidFill>
                  <a:srgbClr val="4A7C3F"/>
                </a:solidFill>
                <a:latin typeface="Segoe UI"/>
              </a:rPr>
              <a:t>A FILOSOFIA DO NÚCLEO TÁTICO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Os 4 Pilares do Método</a:t>
            </a:r>
          </a:p>
        </p:txBody>
      </p:sp>
      <p:sp>
        <p:nvSpPr>
          <p:cNvPr id="110" name="p0"/>
          <p:cNvSpPr/>
          <p:nvPr/>
        </p:nvSpPr>
        <p:spPr>
          <a:xfrm>
            <a:off x="609600" y="1498600"/>
            <a:ext cx="2667000" cy="3810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2800" b="1" dirty="0">
                <a:solidFill>
                  <a:srgbClr val="E8791D"/>
                </a:solidFill>
                <a:latin typeface="Impact"/>
              </a:rPr>
              <a:t>01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0F0F0"/>
                </a:solidFill>
                <a:latin typeface="Segoe UI"/>
              </a:rPr>
              <a:t>DISCIPLINA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Não depende de motivação. O sistema funciona porque você segue o protocolo, todos os dias, sem exceção.</a:t>
            </a:r>
          </a:p>
        </p:txBody>
      </p:sp>
      <p:sp>
        <p:nvSpPr>
          <p:cNvPr id="111" name="p1"/>
          <p:cNvSpPr/>
          <p:nvPr/>
        </p:nvSpPr>
        <p:spPr>
          <a:xfrm>
            <a:off x="3429000" y="1498600"/>
            <a:ext cx="2667000" cy="3810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2800" b="1" dirty="0">
                <a:solidFill>
                  <a:srgbClr val="E8791D"/>
                </a:solidFill>
                <a:latin typeface="Impact"/>
              </a:rPr>
              <a:t>02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0F0F0"/>
                </a:solidFill>
                <a:latin typeface="Segoe UI"/>
              </a:rPr>
              <a:t>MÉTRICA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O que não se mede, não se melhora. Cada sessão gera dados que orientam suas decisões estratégicas.</a:t>
            </a:r>
          </a:p>
        </p:txBody>
      </p:sp>
      <p:sp>
        <p:nvSpPr>
          <p:cNvPr id="112" name="p2"/>
          <p:cNvSpPr/>
          <p:nvPr/>
        </p:nvSpPr>
        <p:spPr>
          <a:xfrm>
            <a:off x="6248400" y="1498600"/>
            <a:ext cx="2667000" cy="3810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2800" b="1" dirty="0">
                <a:solidFill>
                  <a:srgbClr val="E8791D"/>
                </a:solidFill>
                <a:latin typeface="Impact"/>
              </a:rPr>
              <a:t>03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0F0F0"/>
                </a:solidFill>
                <a:latin typeface="Segoe UI"/>
              </a:rPr>
              <a:t>EXECUÇÃO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Planejar é fácil. Executar é o que separa os aprovados dos eternos candidatos.</a:t>
            </a:r>
          </a:p>
        </p:txBody>
      </p:sp>
      <p:sp>
        <p:nvSpPr>
          <p:cNvPr id="113" name="p3"/>
          <p:cNvSpPr/>
          <p:nvPr/>
        </p:nvSpPr>
        <p:spPr>
          <a:xfrm>
            <a:off x="9067800" y="1498600"/>
            <a:ext cx="2667000" cy="3810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2800" b="1" dirty="0">
                <a:solidFill>
                  <a:srgbClr val="E8791D"/>
                </a:solidFill>
                <a:latin typeface="Impact"/>
              </a:rPr>
              <a:t>04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0F0F0"/>
                </a:solidFill>
                <a:latin typeface="Segoe UI"/>
              </a:rPr>
              <a:t>CONSTÂNCIA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A aprovação é construída no acúmulo diário. Pequenas ações repetidas geram resultados extraordinários.</a:t>
            </a:r>
          </a:p>
        </p:txBody>
      </p:sp>
      <p:sp>
        <p:nvSpPr>
          <p:cNvPr id="120" name="hl"/>
          <p:cNvSpPr/>
          <p:nvPr/>
        </p:nvSpPr>
        <p:spPr>
          <a:xfrm>
            <a:off x="609600" y="5486400"/>
            <a:ext cx="10972800" cy="698500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1200" b="1" dirty="0">
                <a:solidFill>
                  <a:srgbClr val="4A7C3F"/>
                </a:solidFill>
                <a:latin typeface="Segoe UI"/>
              </a:rPr>
              <a:t>Esses pilares não são sugestões. São a base do seu sistema operacional de estudos.</a:t>
            </a:r>
          </a:p>
        </p:txBody>
      </p:sp>
      <p:sp>
        <p:nvSpPr>
          <p:cNvPr id="130" name="ft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91440" rIns="114300" bIns="91440" anchor="ctr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85315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05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spc="300" dirty="0">
                <a:solidFill>
                  <a:srgbClr val="4A7C3F"/>
                </a:solidFill>
                <a:latin typeface="Segoe UI"/>
              </a:rPr>
              <a:t>ENGENHARIA DO CRONOGRAMA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Construa Seu Sistema de Estudos</a:t>
            </a:r>
          </a:p>
        </p:txBody>
      </p:sp>
      <p:sp>
        <p:nvSpPr>
          <p:cNvPr id="110" name="c0"/>
          <p:cNvSpPr/>
          <p:nvPr/>
        </p:nvSpPr>
        <p:spPr>
          <a:xfrm>
            <a:off x="609600" y="1498600"/>
            <a:ext cx="3556000" cy="419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DIVISÃO DE MATÉRIAS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Peso da matéria no edital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Nível de dificuldade pessoal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Frequência histórica em provas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Prioridade: alto peso + baixo domínio</a:t>
            </a:r>
          </a:p>
        </p:txBody>
      </p:sp>
      <p:sp>
        <p:nvSpPr>
          <p:cNvPr id="111" name="c1"/>
          <p:cNvSpPr/>
          <p:nvPr/>
        </p:nvSpPr>
        <p:spPr>
          <a:xfrm>
            <a:off x="4318000" y="1498600"/>
            <a:ext cx="3556000" cy="419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CARGA HORÁRIA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Mínimo 4h/dia para dedicação integral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2-3h/dia para quem trabalha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Distribuição proporcional ao peso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Incluir tempo de revisão na conta</a:t>
            </a:r>
          </a:p>
        </p:txBody>
      </p:sp>
      <p:sp>
        <p:nvSpPr>
          <p:cNvPr id="112" name="c2"/>
          <p:cNvSpPr/>
          <p:nvPr/>
        </p:nvSpPr>
        <p:spPr>
          <a:xfrm>
            <a:off x="8026400" y="1498600"/>
            <a:ext cx="3556000" cy="419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BLOCOS INTELIGENTES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Blocos de 50min + 10min pausa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Alternar matérias pesadas e leves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1 bloco exclusivo para questões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Último bloco: revisão do dia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18014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06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spc="300" dirty="0">
                <a:solidFill>
                  <a:srgbClr val="4A7C3F"/>
                </a:solidFill>
                <a:latin typeface="Segoe UI"/>
              </a:rPr>
              <a:t>PERIODIZAÇÃO ESTRATÉGICA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200" b="1" dirty="0">
                <a:solidFill>
                  <a:srgbClr val="F0F0F0"/>
                </a:solidFill>
                <a:latin typeface="Impact"/>
              </a:rPr>
              <a:t>Divida Sua Preparação em Fases Táticas</a:t>
            </a:r>
          </a:p>
        </p:txBody>
      </p:sp>
      <p:sp>
        <p:nvSpPr>
          <p:cNvPr id="110" name="ph0"/>
          <p:cNvSpPr/>
          <p:nvPr/>
        </p:nvSpPr>
        <p:spPr>
          <a:xfrm>
            <a:off x="609600" y="1498600"/>
            <a:ext cx="2667000" cy="355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FASE 1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2000" b="1" dirty="0">
                <a:solidFill>
                  <a:srgbClr val="F0F0F0"/>
                </a:solidFill>
                <a:latin typeface="Impact"/>
              </a:rPr>
              <a:t>BASE</a:t>
            </a:r>
          </a:p>
          <a:p>
            <a:pPr algn="ctr">
              <a:buNone/>
            </a:pPr>
            <a:r>
              <a:rPr lang="pt-BR" sz="900" dirty="0">
                <a:solidFill>
                  <a:srgbClr val="808080"/>
                </a:solidFill>
                <a:latin typeface="Segoe UI"/>
              </a:rPr>
              <a:t>Meses 1-3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Construção de fundamento teórico. Foco em matérias de maior peso. Leitura ativa + fichamentos.</a:t>
            </a:r>
          </a:p>
        </p:txBody>
      </p:sp>
      <p:sp>
        <p:nvSpPr>
          <p:cNvPr id="111" name="ph1"/>
          <p:cNvSpPr/>
          <p:nvPr/>
        </p:nvSpPr>
        <p:spPr>
          <a:xfrm>
            <a:off x="3429000" y="1498600"/>
            <a:ext cx="2667000" cy="355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E8791D"/>
                </a:solidFill>
                <a:latin typeface="Segoe UI"/>
              </a:rPr>
              <a:t>FASE 2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2000" b="1" dirty="0">
                <a:solidFill>
                  <a:srgbClr val="F0F0F0"/>
                </a:solidFill>
                <a:latin typeface="Impact"/>
              </a:rPr>
              <a:t>AVANÇO</a:t>
            </a:r>
          </a:p>
          <a:p>
            <a:pPr algn="ctr">
              <a:buNone/>
            </a:pPr>
            <a:r>
              <a:rPr lang="pt-BR" sz="900" dirty="0">
                <a:solidFill>
                  <a:srgbClr val="808080"/>
                </a:solidFill>
                <a:latin typeface="Segoe UI"/>
              </a:rPr>
              <a:t>Meses 4-6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Aprofundamento + questões massivas. Simulados quinzenais. Identificação de lacunas críticas.</a:t>
            </a:r>
          </a:p>
        </p:txBody>
      </p:sp>
      <p:sp>
        <p:nvSpPr>
          <p:cNvPr id="112" name="ph2"/>
          <p:cNvSpPr/>
          <p:nvPr/>
        </p:nvSpPr>
        <p:spPr>
          <a:xfrm>
            <a:off x="6248400" y="1498600"/>
            <a:ext cx="2667000" cy="355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FASE 3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2000" b="1" dirty="0">
                <a:solidFill>
                  <a:srgbClr val="F0F0F0"/>
                </a:solidFill>
                <a:latin typeface="Impact"/>
              </a:rPr>
              <a:t>REFINAMENTO</a:t>
            </a:r>
          </a:p>
          <a:p>
            <a:pPr algn="ctr">
              <a:buNone/>
            </a:pPr>
            <a:r>
              <a:rPr lang="pt-BR" sz="900" dirty="0">
                <a:solidFill>
                  <a:srgbClr val="808080"/>
                </a:solidFill>
                <a:latin typeface="Segoe UI"/>
              </a:rPr>
              <a:t>Meses 7-9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Revisão cíclica intensa. Simulados semanais. Caderno de erros ativo. Ajuste fino por matéria.</a:t>
            </a:r>
          </a:p>
        </p:txBody>
      </p:sp>
      <p:sp>
        <p:nvSpPr>
          <p:cNvPr id="113" name="ph3"/>
          <p:cNvSpPr/>
          <p:nvPr/>
        </p:nvSpPr>
        <p:spPr>
          <a:xfrm>
            <a:off x="9067800" y="1498600"/>
            <a:ext cx="2667000" cy="355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E8791D"/>
                </a:solidFill>
                <a:latin typeface="Segoe UI"/>
              </a:rPr>
              <a:t>FASE 4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2000" b="1" dirty="0">
                <a:solidFill>
                  <a:srgbClr val="F0F0F0"/>
                </a:solidFill>
                <a:latin typeface="Impact"/>
              </a:rPr>
              <a:t>RETA FINAL</a:t>
            </a:r>
          </a:p>
          <a:p>
            <a:pPr algn="ctr">
              <a:buNone/>
            </a:pPr>
            <a:r>
              <a:rPr lang="pt-BR" sz="900" dirty="0">
                <a:solidFill>
                  <a:srgbClr val="808080"/>
                </a:solidFill>
                <a:latin typeface="Segoe UI"/>
              </a:rPr>
              <a:t>Últimos 30-60 dias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Revisão geral tática. Simulados a cada 3 dias. Foco total em pontos fracos. Modo guerra ativado.</a:t>
            </a:r>
          </a:p>
        </p:txBody>
      </p:sp>
      <p:sp>
        <p:nvSpPr>
          <p:cNvPr id="120" name="arr0"/>
          <p:cNvSpPr/>
          <p:nvPr/>
        </p:nvSpPr>
        <p:spPr>
          <a:xfrm>
            <a:off x="3302000" y="3149600"/>
            <a:ext cx="1016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21" name="arr1"/>
          <p:cNvSpPr/>
          <p:nvPr/>
        </p:nvSpPr>
        <p:spPr>
          <a:xfrm>
            <a:off x="6121400" y="3149600"/>
            <a:ext cx="1016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22" name="arr2"/>
          <p:cNvSpPr/>
          <p:nvPr/>
        </p:nvSpPr>
        <p:spPr>
          <a:xfrm>
            <a:off x="8940800" y="3149600"/>
            <a:ext cx="1016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85844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07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MÉTODO DE REVISÃO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Protocolo 24H / 7D / 30D</a:t>
            </a:r>
          </a:p>
        </p:txBody>
      </p:sp>
      <p:sp>
        <p:nvSpPr>
          <p:cNvPr id="106" name="intro"/>
          <p:cNvSpPr/>
          <p:nvPr/>
        </p:nvSpPr>
        <p:spPr>
          <a:xfrm>
            <a:off x="609600" y="14478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200" dirty="0">
                <a:solidFill>
                  <a:srgbClr val="A0A0A0"/>
                </a:solidFill>
                <a:latin typeface="Segoe UI"/>
              </a:rPr>
              <a:t>Sistema de revisão espaçada adaptado para concursos policiais:</a:t>
            </a:r>
          </a:p>
        </p:txBody>
      </p:sp>
      <p:sp>
        <p:nvSpPr>
          <p:cNvPr id="110" name="bx0"/>
          <p:cNvSpPr/>
          <p:nvPr/>
        </p:nvSpPr>
        <p:spPr>
          <a:xfrm>
            <a:off x="609600" y="1905000"/>
            <a:ext cx="3556000" cy="3683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4000" b="1" dirty="0">
                <a:solidFill>
                  <a:srgbClr val="E8791D"/>
                </a:solidFill>
                <a:latin typeface="Impact"/>
              </a:rPr>
              <a:t>24H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200" b="1" spc="200" dirty="0">
                <a:solidFill>
                  <a:srgbClr val="F0F0F0"/>
                </a:solidFill>
                <a:latin typeface="Segoe UI"/>
              </a:rPr>
              <a:t>REVISÃO IMEDIATA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Nas primeiras 24 horas após o estudo, faça uma revisão rápida dos pontos-chave. Releia anotações, refaça esquemas mentais. Retenção sobe de 40% para 80%.</a:t>
            </a:r>
          </a:p>
        </p:txBody>
      </p:sp>
      <p:sp>
        <p:nvSpPr>
          <p:cNvPr id="111" name="bx1"/>
          <p:cNvSpPr/>
          <p:nvPr/>
        </p:nvSpPr>
        <p:spPr>
          <a:xfrm>
            <a:off x="4368800" y="1905000"/>
            <a:ext cx="3556000" cy="3683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4000" b="1" dirty="0">
                <a:solidFill>
                  <a:srgbClr val="4A7C3F"/>
                </a:solidFill>
                <a:latin typeface="Impact"/>
              </a:rPr>
              <a:t>7D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200" b="1" spc="200" dirty="0">
                <a:solidFill>
                  <a:srgbClr val="F0F0F0"/>
                </a:solidFill>
                <a:latin typeface="Segoe UI"/>
              </a:rPr>
              <a:t>REVISÃO SEMANAL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Após 7 dias, revise o mesmo conteúdo com questões e mapas mentais. Foque nos pontos que você errou ou teve dificuldade. Consolida a memória de longo prazo.</a:t>
            </a:r>
          </a:p>
        </p:txBody>
      </p:sp>
      <p:sp>
        <p:nvSpPr>
          <p:cNvPr id="112" name="bx2"/>
          <p:cNvSpPr/>
          <p:nvPr/>
        </p:nvSpPr>
        <p:spPr>
          <a:xfrm>
            <a:off x="8128000" y="1905000"/>
            <a:ext cx="3556000" cy="3683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4000" b="1" dirty="0">
                <a:solidFill>
                  <a:srgbClr val="E8791D"/>
                </a:solidFill>
                <a:latin typeface="Impact"/>
              </a:rPr>
              <a:t>30D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200" b="1" spc="200" dirty="0">
                <a:solidFill>
                  <a:srgbClr val="F0F0F0"/>
                </a:solidFill>
                <a:latin typeface="Segoe UI"/>
              </a:rPr>
              <a:t>REVISÃO MENSAL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A cada 30 dias, faça uma revisão geral por simulado ou caderno de erros. Se acertou tudo: matéria dominada. Se errou: volta para o ciclo 24H/7D.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267343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08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SISTEMA DE QUESTÕES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O Motor da Sua Aprovação</a:t>
            </a:r>
          </a:p>
        </p:txBody>
      </p:sp>
      <p:sp>
        <p:nvSpPr>
          <p:cNvPr id="110" name="left"/>
          <p:cNvSpPr/>
          <p:nvPr/>
        </p:nvSpPr>
        <p:spPr>
          <a:xfrm>
            <a:off x="6096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PROTOCOLO DIÁRIO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Mínimo 30 questões por dia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Dividir por matéria estudada no dia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Cronometrar tempo por questão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Analisar CADA alternativa errada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Registrar taxa de acerto por matéria</a:t>
            </a:r>
          </a:p>
          <a:p>
            <a:pPr>
              <a:buNone/>
            </a:pPr>
            <a:endParaRPr lang="pt-BR" sz="600"/>
          </a:p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META SEMANAL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200+ questões por semana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1 simulado completo no fim de semana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Revisar erros da semana toda</a:t>
            </a:r>
          </a:p>
        </p:txBody>
      </p:sp>
      <p:sp>
        <p:nvSpPr>
          <p:cNvPr id="111" name="right"/>
          <p:cNvSpPr/>
          <p:nvPr/>
        </p:nvSpPr>
        <p:spPr>
          <a:xfrm>
            <a:off x="62738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ESTRATÉGIA TÁTICA</a:t>
            </a:r>
          </a:p>
          <a:p>
            <a:pPr>
              <a:buNone/>
            </a:pPr>
            <a:endParaRPr lang="pt-BR" sz="4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Priorize bancas do seu concurso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Estude o padrão da banca (como cobra)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Foque em questões recentes (últimos 5 anos)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Identifique temas repetidos</a:t>
            </a:r>
          </a:p>
          <a:p>
            <a:pPr>
              <a:buNone/>
            </a:pPr>
            <a:endParaRPr lang="pt-BR" sz="600"/>
          </a:p>
          <a:p>
            <a:pPr algn="l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REGRA DE OURO</a:t>
            </a:r>
          </a:p>
          <a:p>
            <a:pPr>
              <a:buNone/>
            </a:pPr>
            <a:endParaRPr lang="pt-BR" sz="400"/>
          </a:p>
          <a:p>
            <a:pPr algn="l">
              <a:buNone/>
            </a:pPr>
            <a:r>
              <a:rPr lang="pt-BR" sz="1200" b="1" dirty="0">
                <a:solidFill>
                  <a:srgbClr val="E8791D"/>
                </a:solidFill>
                <a:latin typeface="Segoe UI"/>
              </a:rPr>
              <a:t>Não basta resolver. É preciso entender por que errou e garantir que não erra de novo.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54649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09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CADERNO DE ERROS OPERACIONAL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Sua Arma Secreta de Revisão</a:t>
            </a:r>
          </a:p>
        </p:txBody>
      </p:sp>
      <p:sp>
        <p:nvSpPr>
          <p:cNvPr id="106" name="desc"/>
          <p:cNvSpPr/>
          <p:nvPr/>
        </p:nvSpPr>
        <p:spPr>
          <a:xfrm>
            <a:off x="609600" y="1447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200" dirty="0">
                <a:solidFill>
                  <a:srgbClr val="A0A0A0"/>
                </a:solidFill>
                <a:latin typeface="Segoe UI"/>
              </a:rPr>
              <a:t>O Caderno de Erros é o registro tático de cada falha. Não é diário: é inteligência operacional.</a:t>
            </a:r>
          </a:p>
        </p:txBody>
      </p:sp>
      <p:sp>
        <p:nvSpPr>
          <p:cNvPr id="110" name="lb0"/>
          <p:cNvSpPr/>
          <p:nvPr/>
        </p:nvSpPr>
        <p:spPr>
          <a:xfrm>
            <a:off x="609600" y="2057400"/>
            <a:ext cx="2540000" cy="736600"/>
          </a:xfrm>
          <a:prstGeom prst="round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MATÉRIA</a:t>
            </a:r>
          </a:p>
        </p:txBody>
      </p:sp>
      <p:sp>
        <p:nvSpPr>
          <p:cNvPr id="111" name="ds0"/>
          <p:cNvSpPr/>
          <p:nvPr/>
        </p:nvSpPr>
        <p:spPr>
          <a:xfrm>
            <a:off x="3302000" y="2057400"/>
            <a:ext cx="8280400" cy="7366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Qual disciplina você errou</a:t>
            </a:r>
          </a:p>
        </p:txBody>
      </p:sp>
      <p:sp>
        <p:nvSpPr>
          <p:cNvPr id="112" name="lb1"/>
          <p:cNvSpPr/>
          <p:nvPr/>
        </p:nvSpPr>
        <p:spPr>
          <a:xfrm>
            <a:off x="609600" y="2895600"/>
            <a:ext cx="2540000" cy="736600"/>
          </a:xfrm>
          <a:prstGeom prst="round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QUESTÃO</a:t>
            </a:r>
          </a:p>
        </p:txBody>
      </p:sp>
      <p:sp>
        <p:nvSpPr>
          <p:cNvPr id="113" name="ds1"/>
          <p:cNvSpPr/>
          <p:nvPr/>
        </p:nvSpPr>
        <p:spPr>
          <a:xfrm>
            <a:off x="3302000" y="2895600"/>
            <a:ext cx="8280400" cy="7366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Número, banca, ano e link da questão</a:t>
            </a:r>
          </a:p>
        </p:txBody>
      </p:sp>
      <p:sp>
        <p:nvSpPr>
          <p:cNvPr id="114" name="lb2"/>
          <p:cNvSpPr/>
          <p:nvPr/>
        </p:nvSpPr>
        <p:spPr>
          <a:xfrm>
            <a:off x="609600" y="3733800"/>
            <a:ext cx="2540000" cy="736600"/>
          </a:xfrm>
          <a:prstGeom prst="round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ERRO</a:t>
            </a:r>
          </a:p>
        </p:txBody>
      </p:sp>
      <p:sp>
        <p:nvSpPr>
          <p:cNvPr id="115" name="ds2"/>
          <p:cNvSpPr/>
          <p:nvPr/>
        </p:nvSpPr>
        <p:spPr>
          <a:xfrm>
            <a:off x="3302000" y="3733800"/>
            <a:ext cx="8280400" cy="7366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Por que você errou (leitura, conceito, desatenção)</a:t>
            </a:r>
          </a:p>
        </p:txBody>
      </p:sp>
      <p:sp>
        <p:nvSpPr>
          <p:cNvPr id="116" name="lb3"/>
          <p:cNvSpPr/>
          <p:nvPr/>
        </p:nvSpPr>
        <p:spPr>
          <a:xfrm>
            <a:off x="609600" y="4572000"/>
            <a:ext cx="2540000" cy="736600"/>
          </a:xfrm>
          <a:prstGeom prst="round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CORREÇÃO</a:t>
            </a:r>
          </a:p>
        </p:txBody>
      </p:sp>
      <p:sp>
        <p:nvSpPr>
          <p:cNvPr id="117" name="ds3"/>
          <p:cNvSpPr/>
          <p:nvPr/>
        </p:nvSpPr>
        <p:spPr>
          <a:xfrm>
            <a:off x="3302000" y="4572000"/>
            <a:ext cx="8280400" cy="7366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Regra ou conceito correto resumido</a:t>
            </a:r>
          </a:p>
        </p:txBody>
      </p:sp>
      <p:sp>
        <p:nvSpPr>
          <p:cNvPr id="118" name="lb4"/>
          <p:cNvSpPr/>
          <p:nvPr/>
        </p:nvSpPr>
        <p:spPr>
          <a:xfrm>
            <a:off x="609600" y="5410200"/>
            <a:ext cx="2540000" cy="736600"/>
          </a:xfrm>
          <a:prstGeom prst="round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STATUS</a:t>
            </a:r>
          </a:p>
        </p:txBody>
      </p:sp>
      <p:sp>
        <p:nvSpPr>
          <p:cNvPr id="119" name="ds4"/>
          <p:cNvSpPr/>
          <p:nvPr/>
        </p:nvSpPr>
        <p:spPr>
          <a:xfrm>
            <a:off x="3302000" y="5410200"/>
            <a:ext cx="8280400" cy="7366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Revisado? Acertou na próxima vez?</a:t>
            </a:r>
          </a:p>
        </p:txBody>
      </p:sp>
      <p:sp>
        <p:nvSpPr>
          <p:cNvPr id="125" name="hl"/>
          <p:cNvSpPr/>
          <p:nvPr/>
        </p:nvSpPr>
        <p:spPr>
          <a:xfrm>
            <a:off x="609600" y="62484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E8791D"/>
                </a:solidFill>
                <a:latin typeface="Segoe UI"/>
              </a:rPr>
              <a:t>Revisar erros é mais poderoso do que estudar conteúdo novo.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409829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10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SIMULADOS COM ANÁLISE TÁTICA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Simulado Não É Treino. É Operação.</a:t>
            </a:r>
          </a:p>
        </p:txBody>
      </p:sp>
      <p:sp>
        <p:nvSpPr>
          <p:cNvPr id="110" name="bef"/>
          <p:cNvSpPr/>
          <p:nvPr/>
        </p:nvSpPr>
        <p:spPr>
          <a:xfrm>
            <a:off x="609600" y="1498600"/>
            <a:ext cx="5461000" cy="228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ANTES DO SIMULADO</a:t>
            </a:r>
          </a:p>
          <a:p>
            <a:pPr>
              <a:buNone/>
            </a:pPr>
            <a:endParaRPr lang="pt-BR" sz="3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Simule condições reais (tempo, local, silêncio)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Defina horário fixo (sábado ou domingo)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Use folha de resposta real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Sem consultas, sem pausas</a:t>
            </a:r>
          </a:p>
        </p:txBody>
      </p:sp>
      <p:sp>
        <p:nvSpPr>
          <p:cNvPr id="111" name="aft"/>
          <p:cNvSpPr/>
          <p:nvPr/>
        </p:nvSpPr>
        <p:spPr>
          <a:xfrm>
            <a:off x="6273800" y="1498600"/>
            <a:ext cx="5461000" cy="2286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DEPOIS DO SIMULADO</a:t>
            </a:r>
          </a:p>
          <a:p>
            <a:pPr>
              <a:buNone/>
            </a:pPr>
            <a:endParaRPr lang="pt-BR" sz="300"/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Calcule nota total e por matéria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Identifique 3 matérias mais fracas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Registre erros no Caderno Operacional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Ajuste cronograma da semana seguinte</a:t>
            </a:r>
          </a:p>
        </p:txBody>
      </p:sp>
      <p:sp>
        <p:nvSpPr>
          <p:cNvPr id="120" name="m0"/>
          <p:cNvSpPr/>
          <p:nvPr/>
        </p:nvSpPr>
        <p:spPr>
          <a:xfrm>
            <a:off x="609600" y="4013200"/>
            <a:ext cx="37592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NOTA TOTAL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Compare com a média de aprovação do cargo</a:t>
            </a:r>
          </a:p>
        </p:txBody>
      </p:sp>
      <p:sp>
        <p:nvSpPr>
          <p:cNvPr id="121" name="m1"/>
          <p:cNvSpPr/>
          <p:nvPr/>
        </p:nvSpPr>
        <p:spPr>
          <a:xfrm>
            <a:off x="4521200" y="4013200"/>
            <a:ext cx="37592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TEMPO MÉDIO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Segundos por questão. Meta: abaixo de 3min</a:t>
            </a:r>
          </a:p>
        </p:txBody>
      </p:sp>
      <p:sp>
        <p:nvSpPr>
          <p:cNvPr id="122" name="m2"/>
          <p:cNvSpPr/>
          <p:nvPr/>
        </p:nvSpPr>
        <p:spPr>
          <a:xfrm>
            <a:off x="8432800" y="4013200"/>
            <a:ext cx="37592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EVOLUÇÃO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Compare com simulados anteriores semana a semana</a:t>
            </a:r>
          </a:p>
        </p:txBody>
      </p:sp>
      <p:sp>
        <p:nvSpPr>
          <p:cNvPr id="125" name="hl"/>
          <p:cNvSpPr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100" b="1" dirty="0">
                <a:solidFill>
                  <a:srgbClr val="4A7C3F"/>
                </a:solidFill>
                <a:latin typeface="Segoe UI"/>
              </a:rPr>
              <a:t>Frequência ideal: 1 simulado por semana. Na reta final: a cada 3 dias.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270571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11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CONTROLE DE DESEMPENHO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O Que Não Se Mede, Não Se Melhora</a:t>
            </a:r>
          </a:p>
        </p:txBody>
      </p:sp>
      <p:sp>
        <p:nvSpPr>
          <p:cNvPr id="110" name="m0"/>
          <p:cNvSpPr/>
          <p:nvPr/>
        </p:nvSpPr>
        <p:spPr>
          <a:xfrm>
            <a:off x="609600" y="15240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01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HORAS ESTUDADAS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Registro diário de tempo líquido. Meta: consistência, não quantidade.</a:t>
            </a:r>
          </a:p>
        </p:txBody>
      </p:sp>
      <p:sp>
        <p:nvSpPr>
          <p:cNvPr id="111" name="m1"/>
          <p:cNvSpPr/>
          <p:nvPr/>
        </p:nvSpPr>
        <p:spPr>
          <a:xfrm>
            <a:off x="4368800" y="15240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02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QUESTÕES FEITAS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Total semanal e mensal. Acompanhe a evolução progressiva.</a:t>
            </a:r>
          </a:p>
        </p:txBody>
      </p:sp>
      <p:sp>
        <p:nvSpPr>
          <p:cNvPr id="112" name="m2"/>
          <p:cNvSpPr/>
          <p:nvPr/>
        </p:nvSpPr>
        <p:spPr>
          <a:xfrm>
            <a:off x="8128000" y="15240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03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TAXA DE ACERTO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Por matéria e geral. Abaixo de 70%? Priorize essa matéria.</a:t>
            </a:r>
          </a:p>
        </p:txBody>
      </p:sp>
      <p:sp>
        <p:nvSpPr>
          <p:cNvPr id="113" name="m3"/>
          <p:cNvSpPr/>
          <p:nvPr/>
        </p:nvSpPr>
        <p:spPr>
          <a:xfrm>
            <a:off x="609600" y="33782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04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NOTA SIMULADO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Acompanhe simulado a simulado. A curva deve ser crescente.</a:t>
            </a:r>
          </a:p>
        </p:txBody>
      </p:sp>
      <p:sp>
        <p:nvSpPr>
          <p:cNvPr id="114" name="m4"/>
          <p:cNvSpPr/>
          <p:nvPr/>
        </p:nvSpPr>
        <p:spPr>
          <a:xfrm>
            <a:off x="4368800" y="33782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05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MATÉRIAS COBERTAS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Todas as matérias do edital devem ser tocadas no ciclo.</a:t>
            </a:r>
          </a:p>
        </p:txBody>
      </p:sp>
      <p:sp>
        <p:nvSpPr>
          <p:cNvPr id="115" name="m5"/>
          <p:cNvSpPr/>
          <p:nvPr/>
        </p:nvSpPr>
        <p:spPr>
          <a:xfrm>
            <a:off x="8128000" y="3378200"/>
            <a:ext cx="3556000" cy="1651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06</a:t>
            </a:r>
            <a:r>
              <a:rPr lang="pt-BR" sz="1100" b="1" dirty="0">
                <a:solidFill>
                  <a:srgbClr val="F0F0F0"/>
                </a:solidFill>
                <a:latin typeface="Segoe UI"/>
              </a:rPr>
              <a:t>  REVISÕES FEITAS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900" dirty="0">
                <a:solidFill>
                  <a:srgbClr val="A0A0A0"/>
                </a:solidFill>
                <a:latin typeface="Segoe UI"/>
              </a:rPr>
              <a:t>Quantidade de revisões 24H/7D/30D realizadas por semana.</a:t>
            </a:r>
          </a:p>
        </p:txBody>
      </p:sp>
      <p:sp>
        <p:nvSpPr>
          <p:cNvPr id="125" name="hl"/>
          <p:cNvSpPr/>
          <p:nvPr/>
        </p:nvSpPr>
        <p:spPr>
          <a:xfrm>
            <a:off x="609600" y="5334000"/>
            <a:ext cx="10972800" cy="889000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USE UMA PLANILHA OU APP</a:t>
            </a:r>
          </a:p>
          <a:p>
            <a:pPr algn="ctr">
              <a:buNone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Registre diariamente. Analise semanalmente. Ajuste mensalmente.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148226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12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ESTUDANDO E TRABALHANDO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200" b="1" dirty="0">
                <a:solidFill>
                  <a:srgbClr val="F0F0F0"/>
                </a:solidFill>
                <a:latin typeface="Impact"/>
              </a:rPr>
              <a:t>Conciliar Trabalho e Estudo é Possível</a:t>
            </a:r>
          </a:p>
        </p:txBody>
      </p:sp>
      <p:sp>
        <p:nvSpPr>
          <p:cNvPr id="110" name="rules"/>
          <p:cNvSpPr/>
          <p:nvPr/>
        </p:nvSpPr>
        <p:spPr>
          <a:xfrm>
            <a:off x="6096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600" b="1" dirty="0">
                <a:solidFill>
                  <a:srgbClr val="E8791D"/>
                </a:solidFill>
                <a:latin typeface="Impact"/>
              </a:rPr>
              <a:t>REGRAS DE OURO</a:t>
            </a:r>
          </a:p>
          <a:p>
            <a:pPr>
              <a:buNone/>
            </a:pPr>
            <a:endParaRPr lang="pt-BR" sz="300"/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Acorde 1h mais cedo todos os dias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Use deslocamento para áudio/revisão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Almoço = 30min de questões no celular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Noite: 2h de estudo focado (inegociável)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Fim de semana: simulado + revisão geral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Corte redes sociais no horário de estudo</a:t>
            </a:r>
          </a:p>
        </p:txBody>
      </p:sp>
      <p:sp>
        <p:nvSpPr>
          <p:cNvPr id="111" name="mind"/>
          <p:cNvSpPr/>
          <p:nvPr/>
        </p:nvSpPr>
        <p:spPr>
          <a:xfrm>
            <a:off x="62738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600" b="1" dirty="0">
                <a:solidFill>
                  <a:srgbClr val="4A7C3F"/>
                </a:solidFill>
                <a:latin typeface="Impact"/>
              </a:rPr>
              <a:t>MENTALIDADE DO GUERREIRO</a:t>
            </a:r>
          </a:p>
          <a:p>
            <a:pPr>
              <a:buNone/>
            </a:pPr>
            <a:endParaRPr lang="pt-BR" sz="300"/>
          </a:p>
          <a:p>
            <a:pPr algn="l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Você não tem menos tempo. Você tem menos margem para erro.</a:t>
            </a:r>
          </a:p>
          <a:p>
            <a:pPr>
              <a:buNone/>
            </a:pPr>
            <a:endParaRPr lang="pt-BR" sz="400"/>
          </a:p>
          <a:p>
            <a:pPr algn="l">
              <a:buNone/>
            </a:pPr>
            <a:r>
              <a:rPr lang="pt-BR" sz="1100" dirty="0">
                <a:solidFill>
                  <a:srgbClr val="A0A0A0"/>
                </a:solidFill>
                <a:latin typeface="Segoe UI"/>
              </a:rPr>
              <a:t>Quem trabalha e estuda precisa ser CIRÚRGICO. Cada minuto conta. Não há espaço para estudo passivo ou sem direção.</a:t>
            </a:r>
          </a:p>
          <a:p>
            <a:pPr>
              <a:buNone/>
            </a:pPr>
            <a:endParaRPr lang="pt-BR" sz="400"/>
          </a:p>
          <a:p>
            <a:pPr algn="l">
              <a:buNone/>
            </a:pPr>
            <a:r>
              <a:rPr lang="pt-BR" sz="1200" b="1" dirty="0">
                <a:solidFill>
                  <a:srgbClr val="E8791D"/>
                </a:solidFill>
                <a:latin typeface="Segoe UI"/>
              </a:rPr>
              <a:t>Carga mínima viável: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2-3 horas líquidas por dia útil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5-6 horas nos fins de semana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15-20h semanais no total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2365197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13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ESCALA 12x36 / 24x72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Estudo Adaptado Para Escalistas</a:t>
            </a:r>
          </a:p>
        </p:txBody>
      </p:sp>
      <p:sp>
        <p:nvSpPr>
          <p:cNvPr id="110" name="s1"/>
          <p:cNvSpPr/>
          <p:nvPr/>
        </p:nvSpPr>
        <p:spPr>
          <a:xfrm>
            <a:off x="609600" y="1498600"/>
            <a:ext cx="5461000" cy="457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2000" b="1" dirty="0">
                <a:solidFill>
                  <a:srgbClr val="E8791D"/>
                </a:solidFill>
                <a:latin typeface="Impact"/>
              </a:rPr>
              <a:t>ESCALA 12x36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Dia de serviço (12h):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Áudio + revisão rápida (1h possível)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Dia de folga (36h):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6-8h de estudo distribuídas em blocos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Simulado completo no dia de folga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Meta: 20-25h semanais possíveis</a:t>
            </a:r>
          </a:p>
        </p:txBody>
      </p:sp>
      <p:sp>
        <p:nvSpPr>
          <p:cNvPr id="111" name="s2"/>
          <p:cNvSpPr/>
          <p:nvPr/>
        </p:nvSpPr>
        <p:spPr>
          <a:xfrm>
            <a:off x="6273800" y="1498600"/>
            <a:ext cx="5461000" cy="457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2000" b="1" dirty="0">
                <a:solidFill>
                  <a:srgbClr val="4A7C3F"/>
                </a:solidFill>
                <a:latin typeface="Impact"/>
              </a:rPr>
              <a:t>ESCALA 24x72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Dia de serviço (24h):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Questões rápidas nos intervalos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3 dias de folga (72h):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Dia 1: Descanso + estudo leve (3h)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Dia 2: Estudo intenso (6-8h)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Dia 3: Simulado + revisao (6h)</a:t>
            </a:r>
          </a:p>
          <a:p>
            <a:pPr algn="l">
              <a:spcBef>
                <a:spcPts val="200"/>
              </a:spcBef>
              <a:buFont typeface="Arial"/>
              <a:buChar char="▸"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Meta: 25-30h semanais possíveis</a:t>
            </a:r>
          </a:p>
        </p:txBody>
      </p:sp>
      <p:sp>
        <p:nvSpPr>
          <p:cNvPr id="125" name="hl"/>
          <p:cNvSpPr/>
          <p:nvPr/>
        </p:nvSpPr>
        <p:spPr>
          <a:xfrm>
            <a:off x="609600" y="6197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E8791D"/>
                </a:solidFill>
                <a:latin typeface="Segoe UI"/>
              </a:rPr>
              <a:t>Adapte o método à SUA realidade. O importante é manter a constância.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172686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14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CHECKLIST SEMANAL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Protocolo Semanal de Execução</a:t>
            </a:r>
          </a:p>
        </p:txBody>
      </p:sp>
      <p:sp>
        <p:nvSpPr>
          <p:cNvPr id="110" name="left"/>
          <p:cNvSpPr/>
          <p:nvPr/>
        </p:nvSpPr>
        <p:spPr>
          <a:xfrm>
            <a:off x="6096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EXECUÇÃO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Todas as matérias do ciclo foram estudadas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Mínimo de 200 questões resolvidas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Revisão 24H feita todos os dias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Revisão 7D feita no sábado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Caderno de erros atualizado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Horas de estudo registradas</a:t>
            </a:r>
          </a:p>
        </p:txBody>
      </p:sp>
      <p:sp>
        <p:nvSpPr>
          <p:cNvPr id="111" name="right"/>
          <p:cNvSpPr/>
          <p:nvPr/>
        </p:nvSpPr>
        <p:spPr>
          <a:xfrm>
            <a:off x="62738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CONTROLE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Simulado realizado (se previsto)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Métricas de desempenho anotadas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Cronograma da próxima semana montado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Pontos fracos identificados e priorizados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Tempo de tela reduzido (redes sociais)</a:t>
            </a:r>
          </a:p>
          <a:p>
            <a:pPr algn="l">
              <a:spcBef>
                <a:spcPts val="400"/>
              </a:spcBef>
              <a:buFont typeface="Segoe UI Symbol"/>
              <a:buChar char="☐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 Saúde: sono, alimentação, exercício OK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2315182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15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MODELO DE ROTINA DIÁRIA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000" b="1" dirty="0">
                <a:solidFill>
                  <a:srgbClr val="F0F0F0"/>
                </a:solidFill>
                <a:latin typeface="Impact"/>
              </a:rPr>
              <a:t>Rotina Tática — Modelo Para Dedicação Integral</a:t>
            </a:r>
          </a:p>
        </p:txBody>
      </p:sp>
      <p:sp>
        <p:nvSpPr>
          <p:cNvPr id="110" name="t0"/>
          <p:cNvSpPr/>
          <p:nvPr/>
        </p:nvSpPr>
        <p:spPr>
          <a:xfrm>
            <a:off x="609600" y="1397000"/>
            <a:ext cx="1143000" cy="3556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06:00</a:t>
            </a:r>
          </a:p>
        </p:txBody>
      </p:sp>
      <p:sp>
        <p:nvSpPr>
          <p:cNvPr id="111" name="a0"/>
          <p:cNvSpPr/>
          <p:nvPr/>
        </p:nvSpPr>
        <p:spPr>
          <a:xfrm>
            <a:off x="1879600" y="1397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Acordar + preparação mental</a:t>
            </a:r>
          </a:p>
        </p:txBody>
      </p:sp>
      <p:sp>
        <p:nvSpPr>
          <p:cNvPr id="112" name="t1"/>
          <p:cNvSpPr/>
          <p:nvPr/>
        </p:nvSpPr>
        <p:spPr>
          <a:xfrm>
            <a:off x="609600" y="1778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06:30</a:t>
            </a:r>
          </a:p>
        </p:txBody>
      </p:sp>
      <p:sp>
        <p:nvSpPr>
          <p:cNvPr id="113" name="a1"/>
          <p:cNvSpPr/>
          <p:nvPr/>
        </p:nvSpPr>
        <p:spPr>
          <a:xfrm>
            <a:off x="1879600" y="1778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1: Matéria de alto peso (50min + 10 pausa)</a:t>
            </a:r>
          </a:p>
        </p:txBody>
      </p:sp>
      <p:sp>
        <p:nvSpPr>
          <p:cNvPr id="114" name="t2"/>
          <p:cNvSpPr/>
          <p:nvPr/>
        </p:nvSpPr>
        <p:spPr>
          <a:xfrm>
            <a:off x="609600" y="2159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07:30</a:t>
            </a:r>
          </a:p>
        </p:txBody>
      </p:sp>
      <p:sp>
        <p:nvSpPr>
          <p:cNvPr id="115" name="a2"/>
          <p:cNvSpPr/>
          <p:nvPr/>
        </p:nvSpPr>
        <p:spPr>
          <a:xfrm>
            <a:off x="1879600" y="2159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2: Continuação ou segunda matéria pesada</a:t>
            </a:r>
          </a:p>
        </p:txBody>
      </p:sp>
      <p:sp>
        <p:nvSpPr>
          <p:cNvPr id="116" name="t3"/>
          <p:cNvSpPr/>
          <p:nvPr/>
        </p:nvSpPr>
        <p:spPr>
          <a:xfrm>
            <a:off x="609600" y="2540000"/>
            <a:ext cx="1143000" cy="3556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08:30</a:t>
            </a:r>
          </a:p>
        </p:txBody>
      </p:sp>
      <p:sp>
        <p:nvSpPr>
          <p:cNvPr id="117" name="a3"/>
          <p:cNvSpPr/>
          <p:nvPr/>
        </p:nvSpPr>
        <p:spPr>
          <a:xfrm>
            <a:off x="1879600" y="2540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Pausa ativa: café + alongamento (20min)</a:t>
            </a:r>
          </a:p>
        </p:txBody>
      </p:sp>
      <p:sp>
        <p:nvSpPr>
          <p:cNvPr id="118" name="t4"/>
          <p:cNvSpPr/>
          <p:nvPr/>
        </p:nvSpPr>
        <p:spPr>
          <a:xfrm>
            <a:off x="609600" y="2921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09:00</a:t>
            </a:r>
          </a:p>
        </p:txBody>
      </p:sp>
      <p:sp>
        <p:nvSpPr>
          <p:cNvPr id="119" name="a4"/>
          <p:cNvSpPr/>
          <p:nvPr/>
        </p:nvSpPr>
        <p:spPr>
          <a:xfrm>
            <a:off x="1879600" y="2921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3: Matéria complementar</a:t>
            </a:r>
          </a:p>
        </p:txBody>
      </p:sp>
      <p:sp>
        <p:nvSpPr>
          <p:cNvPr id="120" name="t5"/>
          <p:cNvSpPr/>
          <p:nvPr/>
        </p:nvSpPr>
        <p:spPr>
          <a:xfrm>
            <a:off x="609600" y="3302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10:00</a:t>
            </a:r>
          </a:p>
        </p:txBody>
      </p:sp>
      <p:sp>
        <p:nvSpPr>
          <p:cNvPr id="121" name="a5"/>
          <p:cNvSpPr/>
          <p:nvPr/>
        </p:nvSpPr>
        <p:spPr>
          <a:xfrm>
            <a:off x="1879600" y="3302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4: Questões da matéria do dia</a:t>
            </a:r>
          </a:p>
        </p:txBody>
      </p:sp>
      <p:sp>
        <p:nvSpPr>
          <p:cNvPr id="122" name="t6"/>
          <p:cNvSpPr/>
          <p:nvPr/>
        </p:nvSpPr>
        <p:spPr>
          <a:xfrm>
            <a:off x="609600" y="3683000"/>
            <a:ext cx="1143000" cy="3556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11:00</a:t>
            </a:r>
          </a:p>
        </p:txBody>
      </p:sp>
      <p:sp>
        <p:nvSpPr>
          <p:cNvPr id="123" name="a6"/>
          <p:cNvSpPr/>
          <p:nvPr/>
        </p:nvSpPr>
        <p:spPr>
          <a:xfrm>
            <a:off x="1879600" y="3683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Revisão 24H do dia anterior</a:t>
            </a:r>
          </a:p>
        </p:txBody>
      </p:sp>
      <p:sp>
        <p:nvSpPr>
          <p:cNvPr id="124" name="t7"/>
          <p:cNvSpPr/>
          <p:nvPr/>
        </p:nvSpPr>
        <p:spPr>
          <a:xfrm>
            <a:off x="609600" y="4064000"/>
            <a:ext cx="1143000" cy="3556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12:00</a:t>
            </a:r>
          </a:p>
        </p:txBody>
      </p:sp>
      <p:sp>
        <p:nvSpPr>
          <p:cNvPr id="125" name="a7"/>
          <p:cNvSpPr/>
          <p:nvPr/>
        </p:nvSpPr>
        <p:spPr>
          <a:xfrm>
            <a:off x="1879600" y="4064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Almoço + descanso total (1h30)</a:t>
            </a:r>
          </a:p>
        </p:txBody>
      </p:sp>
      <p:sp>
        <p:nvSpPr>
          <p:cNvPr id="126" name="t8"/>
          <p:cNvSpPr/>
          <p:nvPr/>
        </p:nvSpPr>
        <p:spPr>
          <a:xfrm>
            <a:off x="609600" y="4445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13:30</a:t>
            </a:r>
          </a:p>
        </p:txBody>
      </p:sp>
      <p:sp>
        <p:nvSpPr>
          <p:cNvPr id="127" name="a8"/>
          <p:cNvSpPr/>
          <p:nvPr/>
        </p:nvSpPr>
        <p:spPr>
          <a:xfrm>
            <a:off x="1879600" y="4445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5: Matéria de médio peso</a:t>
            </a:r>
          </a:p>
        </p:txBody>
      </p:sp>
      <p:sp>
        <p:nvSpPr>
          <p:cNvPr id="128" name="t9"/>
          <p:cNvSpPr/>
          <p:nvPr/>
        </p:nvSpPr>
        <p:spPr>
          <a:xfrm>
            <a:off x="609600" y="4826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14:30</a:t>
            </a:r>
          </a:p>
        </p:txBody>
      </p:sp>
      <p:sp>
        <p:nvSpPr>
          <p:cNvPr id="129" name="a9"/>
          <p:cNvSpPr/>
          <p:nvPr/>
        </p:nvSpPr>
        <p:spPr>
          <a:xfrm>
            <a:off x="1879600" y="4826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6: Questões + análise de erros</a:t>
            </a:r>
          </a:p>
        </p:txBody>
      </p:sp>
      <p:sp>
        <p:nvSpPr>
          <p:cNvPr id="130" name="t10"/>
          <p:cNvSpPr/>
          <p:nvPr/>
        </p:nvSpPr>
        <p:spPr>
          <a:xfrm>
            <a:off x="609600" y="5207000"/>
            <a:ext cx="1143000" cy="3556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15:30</a:t>
            </a:r>
          </a:p>
        </p:txBody>
      </p:sp>
      <p:sp>
        <p:nvSpPr>
          <p:cNvPr id="131" name="a10"/>
          <p:cNvSpPr/>
          <p:nvPr/>
        </p:nvSpPr>
        <p:spPr>
          <a:xfrm>
            <a:off x="1879600" y="5207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Bloco 7: Legislação ou jurisprudência</a:t>
            </a:r>
          </a:p>
        </p:txBody>
      </p:sp>
      <p:sp>
        <p:nvSpPr>
          <p:cNvPr id="132" name="t11"/>
          <p:cNvSpPr/>
          <p:nvPr/>
        </p:nvSpPr>
        <p:spPr>
          <a:xfrm>
            <a:off x="609600" y="5588000"/>
            <a:ext cx="1143000" cy="3556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16:30</a:t>
            </a:r>
          </a:p>
        </p:txBody>
      </p:sp>
      <p:sp>
        <p:nvSpPr>
          <p:cNvPr id="133" name="a11"/>
          <p:cNvSpPr/>
          <p:nvPr/>
        </p:nvSpPr>
        <p:spPr>
          <a:xfrm>
            <a:off x="1879600" y="5588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Revisão geral do dia + anotações</a:t>
            </a:r>
          </a:p>
        </p:txBody>
      </p:sp>
      <p:sp>
        <p:nvSpPr>
          <p:cNvPr id="134" name="t12"/>
          <p:cNvSpPr/>
          <p:nvPr/>
        </p:nvSpPr>
        <p:spPr>
          <a:xfrm>
            <a:off x="609600" y="5969000"/>
            <a:ext cx="1143000" cy="3556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000" b="1" dirty="0">
                <a:solidFill>
                  <a:srgbClr val="F0F0F0"/>
                </a:solidFill>
                <a:latin typeface="Segoe UI"/>
              </a:rPr>
              <a:t>17:30</a:t>
            </a:r>
          </a:p>
        </p:txBody>
      </p:sp>
      <p:sp>
        <p:nvSpPr>
          <p:cNvPr id="135" name="a12"/>
          <p:cNvSpPr/>
          <p:nvPr/>
        </p:nvSpPr>
        <p:spPr>
          <a:xfrm>
            <a:off x="1879600" y="5969000"/>
            <a:ext cx="9702800" cy="3556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dirty="0">
                <a:solidFill>
                  <a:srgbClr val="C8C8C8"/>
                </a:solidFill>
                <a:latin typeface="Segoe UI"/>
              </a:rPr>
              <a:t>Encerramento: planejamento do dia seguinte</a:t>
            </a:r>
          </a:p>
        </p:txBody>
      </p:sp>
      <p:sp>
        <p:nvSpPr>
          <p:cNvPr id="2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3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1496131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16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PLANO DE 7 DIAS PARA COMEÇAR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Sua Primeira Semana Tática</a:t>
            </a:r>
          </a:p>
        </p:txBody>
      </p:sp>
      <p:sp>
        <p:nvSpPr>
          <p:cNvPr id="110" name="d0"/>
          <p:cNvSpPr/>
          <p:nvPr/>
        </p:nvSpPr>
        <p:spPr>
          <a:xfrm>
            <a:off x="609600" y="1498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DIA 1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Organize seu ambiente. Monte cronograma base. Defina metas semanais.</a:t>
            </a:r>
          </a:p>
        </p:txBody>
      </p:sp>
      <p:sp>
        <p:nvSpPr>
          <p:cNvPr id="111" name="d1"/>
          <p:cNvSpPr/>
          <p:nvPr/>
        </p:nvSpPr>
        <p:spPr>
          <a:xfrm>
            <a:off x="3403600" y="1498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4A7C3F"/>
                </a:solidFill>
                <a:latin typeface="Impact"/>
              </a:rPr>
              <a:t>DIA 2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Estude matéria 1 (alto peso). Resolva 30 questões. Anote erros.</a:t>
            </a:r>
          </a:p>
        </p:txBody>
      </p:sp>
      <p:sp>
        <p:nvSpPr>
          <p:cNvPr id="112" name="d2"/>
          <p:cNvSpPr/>
          <p:nvPr/>
        </p:nvSpPr>
        <p:spPr>
          <a:xfrm>
            <a:off x="6197600" y="1498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DIA 3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Matéria 2. Revisão 24H da matéria 1. 30 questões.</a:t>
            </a:r>
          </a:p>
        </p:txBody>
      </p:sp>
      <p:sp>
        <p:nvSpPr>
          <p:cNvPr id="113" name="d3"/>
          <p:cNvSpPr/>
          <p:nvPr/>
        </p:nvSpPr>
        <p:spPr>
          <a:xfrm>
            <a:off x="8991600" y="1498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4A7C3F"/>
                </a:solidFill>
                <a:latin typeface="Impact"/>
              </a:rPr>
              <a:t>DIA 4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Matéria 3. Revisão 24H matéria 2. Caderno de erros ativo.</a:t>
            </a:r>
          </a:p>
        </p:txBody>
      </p:sp>
      <p:sp>
        <p:nvSpPr>
          <p:cNvPr id="114" name="d4"/>
          <p:cNvSpPr/>
          <p:nvPr/>
        </p:nvSpPr>
        <p:spPr>
          <a:xfrm>
            <a:off x="609600" y="3657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DIA 5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Matéria 4. Revisão 24H matéria 3. Acumule 150 questões.</a:t>
            </a:r>
          </a:p>
        </p:txBody>
      </p:sp>
      <p:sp>
        <p:nvSpPr>
          <p:cNvPr id="115" name="d5"/>
          <p:cNvSpPr/>
          <p:nvPr/>
        </p:nvSpPr>
        <p:spPr>
          <a:xfrm>
            <a:off x="3403600" y="3657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4A7C3F"/>
                </a:solidFill>
                <a:latin typeface="Impact"/>
              </a:rPr>
              <a:t>DIA 6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Simulado completo. Análise detalhada. Registre métricas.</a:t>
            </a:r>
          </a:p>
        </p:txBody>
      </p:sp>
      <p:sp>
        <p:nvSpPr>
          <p:cNvPr id="116" name="d6"/>
          <p:cNvSpPr/>
          <p:nvPr/>
        </p:nvSpPr>
        <p:spPr>
          <a:xfrm>
            <a:off x="6197600" y="3657600"/>
            <a:ext cx="2667000" cy="2032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DIA 7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000" dirty="0">
                <a:solidFill>
                  <a:srgbClr val="A0A0A0"/>
                </a:solidFill>
                <a:latin typeface="Segoe UI"/>
              </a:rPr>
              <a:t>Revisão geral 7D. Planeje semana 2. Ajuste cronograma.</a:t>
            </a:r>
          </a:p>
        </p:txBody>
      </p:sp>
      <p:sp>
        <p:nvSpPr>
          <p:cNvPr id="125" name="hl"/>
          <p:cNvSpPr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4A7C3F"/>
                </a:solidFill>
                <a:latin typeface="Segoe UI"/>
              </a:rPr>
              <a:t>7 dias é tudo que você precisa para ativar o sistema. Depois disso, só escalar.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2596336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17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ERROS QUE ATRASAM SUA APROVAÇÃO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Elimine Esses Sabotadores Agora</a:t>
            </a:r>
          </a:p>
        </p:txBody>
      </p:sp>
      <p:sp>
        <p:nvSpPr>
          <p:cNvPr id="110" name="x0"/>
          <p:cNvSpPr/>
          <p:nvPr/>
        </p:nvSpPr>
        <p:spPr>
          <a:xfrm>
            <a:off x="609600" y="14224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11" name="e0"/>
          <p:cNvSpPr/>
          <p:nvPr/>
        </p:nvSpPr>
        <p:spPr>
          <a:xfrm>
            <a:off x="1219200" y="14224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Estudar só quando está motivado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Motivação é emoção. Disciplina é decisão.</a:t>
            </a:r>
          </a:p>
        </p:txBody>
      </p:sp>
      <p:sp>
        <p:nvSpPr>
          <p:cNvPr id="112" name="x1"/>
          <p:cNvSpPr/>
          <p:nvPr/>
        </p:nvSpPr>
        <p:spPr>
          <a:xfrm>
            <a:off x="609600" y="20320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13" name="e1"/>
          <p:cNvSpPr/>
          <p:nvPr/>
        </p:nvSpPr>
        <p:spPr>
          <a:xfrm>
            <a:off x="1219200" y="20320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Fazer cursos demais sem revisar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Acumular conteúdo sem revisão é ilusão de progresso.</a:t>
            </a:r>
          </a:p>
        </p:txBody>
      </p:sp>
      <p:sp>
        <p:nvSpPr>
          <p:cNvPr id="114" name="x2"/>
          <p:cNvSpPr/>
          <p:nvPr/>
        </p:nvSpPr>
        <p:spPr>
          <a:xfrm>
            <a:off x="609600" y="26416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15" name="e2"/>
          <p:cNvSpPr/>
          <p:nvPr/>
        </p:nvSpPr>
        <p:spPr>
          <a:xfrm>
            <a:off x="1219200" y="26416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Ignorar o edital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O edital é o mapa. Estudar fora dele é perder tempo.</a:t>
            </a:r>
          </a:p>
        </p:txBody>
      </p:sp>
      <p:sp>
        <p:nvSpPr>
          <p:cNvPr id="116" name="x3"/>
          <p:cNvSpPr/>
          <p:nvPr/>
        </p:nvSpPr>
        <p:spPr>
          <a:xfrm>
            <a:off x="609600" y="32512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17" name="e3"/>
          <p:cNvSpPr/>
          <p:nvPr/>
        </p:nvSpPr>
        <p:spPr>
          <a:xfrm>
            <a:off x="1219200" y="32512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Não fazer questões diariamente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Teoria sem questões é conhecimento sem prova real.</a:t>
            </a:r>
          </a:p>
        </p:txBody>
      </p:sp>
      <p:sp>
        <p:nvSpPr>
          <p:cNvPr id="118" name="x4"/>
          <p:cNvSpPr/>
          <p:nvPr/>
        </p:nvSpPr>
        <p:spPr>
          <a:xfrm>
            <a:off x="609600" y="38608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19" name="e4"/>
          <p:cNvSpPr/>
          <p:nvPr/>
        </p:nvSpPr>
        <p:spPr>
          <a:xfrm>
            <a:off x="1219200" y="38608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Comparar-se com outros candidatos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Sua única competição é com você de ontem.</a:t>
            </a:r>
          </a:p>
        </p:txBody>
      </p:sp>
      <p:sp>
        <p:nvSpPr>
          <p:cNvPr id="120" name="x5"/>
          <p:cNvSpPr/>
          <p:nvPr/>
        </p:nvSpPr>
        <p:spPr>
          <a:xfrm>
            <a:off x="609600" y="44704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21" name="e5"/>
          <p:cNvSpPr/>
          <p:nvPr/>
        </p:nvSpPr>
        <p:spPr>
          <a:xfrm>
            <a:off x="1219200" y="44704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Estudar matéria fácil para se sentir bem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Conforto não gera aprovação. Desconforto gera evolução.</a:t>
            </a:r>
          </a:p>
        </p:txBody>
      </p:sp>
      <p:sp>
        <p:nvSpPr>
          <p:cNvPr id="122" name="x6"/>
          <p:cNvSpPr/>
          <p:nvPr/>
        </p:nvSpPr>
        <p:spPr>
          <a:xfrm>
            <a:off x="609600" y="50800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23" name="e6"/>
          <p:cNvSpPr/>
          <p:nvPr/>
        </p:nvSpPr>
        <p:spPr>
          <a:xfrm>
            <a:off x="1219200" y="50800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Não ter data limite para o estudo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Sem urgência, não há intensidade. Defina uma prova alvo.</a:t>
            </a:r>
          </a:p>
        </p:txBody>
      </p:sp>
      <p:sp>
        <p:nvSpPr>
          <p:cNvPr id="124" name="x7"/>
          <p:cNvSpPr/>
          <p:nvPr/>
        </p:nvSpPr>
        <p:spPr>
          <a:xfrm>
            <a:off x="609600" y="5689600"/>
            <a:ext cx="508000" cy="558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Impact"/>
              </a:rPr>
              <a:t>X</a:t>
            </a:r>
          </a:p>
        </p:txBody>
      </p:sp>
      <p:sp>
        <p:nvSpPr>
          <p:cNvPr id="125" name="e7"/>
          <p:cNvSpPr/>
          <p:nvPr/>
        </p:nvSpPr>
        <p:spPr>
          <a:xfrm>
            <a:off x="1219200" y="5689600"/>
            <a:ext cx="10363200" cy="558800"/>
          </a:xfrm>
          <a:prstGeom prst="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100" b="1" dirty="0">
                <a:solidFill>
                  <a:srgbClr val="F0F0F0"/>
                </a:solidFill>
                <a:latin typeface="Segoe UI"/>
              </a:rPr>
              <a:t>Não cuidar da saúde física e mental</a:t>
            </a:r>
            <a:r>
              <a:rPr lang="pt-BR" sz="1000" dirty="0">
                <a:solidFill>
                  <a:srgbClr val="808080"/>
                </a:solidFill>
                <a:latin typeface="Segoe UI"/>
              </a:rPr>
              <a:t>  —  Corpo cansado = mente lenta. Durma, coma e se exercite.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333393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18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RETA FINAL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Os Últimos 30 Dias Antes da Prova</a:t>
            </a:r>
          </a:p>
        </p:txBody>
      </p:sp>
      <p:sp>
        <p:nvSpPr>
          <p:cNvPr id="110" name="left"/>
          <p:cNvSpPr/>
          <p:nvPr/>
        </p:nvSpPr>
        <p:spPr>
          <a:xfrm>
            <a:off x="6096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600" b="1" dirty="0">
                <a:solidFill>
                  <a:srgbClr val="E8791D"/>
                </a:solidFill>
                <a:latin typeface="Impact"/>
              </a:rPr>
              <a:t>PROTOCOLO RETA FINAL</a:t>
            </a:r>
          </a:p>
          <a:p>
            <a:pPr>
              <a:buNone/>
            </a:pPr>
            <a:endParaRPr lang="pt-BR" sz="300"/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Revisão geral de TODAS as matérias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Simulados a cada 3 dias (mínimo)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Foco 80% em revisão, 20% em conteúdo novo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Caderno de erros como material principal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Legislação seca todos os dias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Redução de conteúdo novo na última semana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Manter rotina de sono e alimentação</a:t>
            </a:r>
          </a:p>
        </p:txBody>
      </p:sp>
      <p:sp>
        <p:nvSpPr>
          <p:cNvPr id="111" name="right"/>
          <p:cNvSpPr/>
          <p:nvPr/>
        </p:nvSpPr>
        <p:spPr>
          <a:xfrm>
            <a:off x="6273800" y="1498600"/>
            <a:ext cx="5461000" cy="46990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600" b="1" dirty="0">
                <a:solidFill>
                  <a:srgbClr val="4A7C3F"/>
                </a:solidFill>
                <a:latin typeface="Impact"/>
              </a:rPr>
              <a:t>MENTALIDADE DE GUERRA</a:t>
            </a:r>
          </a:p>
          <a:p>
            <a:pPr>
              <a:buNone/>
            </a:pPr>
            <a:endParaRPr lang="pt-BR" sz="300"/>
          </a:p>
          <a:p>
            <a:pPr algn="l">
              <a:buNone/>
            </a:pPr>
            <a:r>
              <a:rPr lang="pt-BR" sz="1200" b="1" dirty="0">
                <a:solidFill>
                  <a:srgbClr val="F0F0F0"/>
                </a:solidFill>
                <a:latin typeface="Segoe UI"/>
              </a:rPr>
              <a:t>Os últimos 30 dias separam os que vão dos que quase foram.</a:t>
            </a:r>
          </a:p>
          <a:p>
            <a:pPr>
              <a:buNone/>
            </a:pPr>
            <a:endParaRPr lang="pt-BR" sz="400"/>
          </a:p>
          <a:p>
            <a:pPr algn="l">
              <a:buNone/>
            </a:pPr>
            <a:r>
              <a:rPr lang="pt-BR" sz="1100" dirty="0">
                <a:solidFill>
                  <a:srgbClr val="A0A0A0"/>
                </a:solidFill>
                <a:latin typeface="Segoe UI"/>
              </a:rPr>
              <a:t>Este é o momento de colher tudo que plantou. Não é hora de pânico. É hora de execução fria e calculada.</a:t>
            </a:r>
          </a:p>
          <a:p>
            <a:pPr>
              <a:buNone/>
            </a:pPr>
            <a:endParaRPr lang="pt-BR" sz="400"/>
          </a:p>
          <a:p>
            <a:pPr algn="l">
              <a:buNone/>
            </a:pPr>
            <a:r>
              <a:rPr lang="pt-BR" sz="1200" b="1" dirty="0">
                <a:solidFill>
                  <a:srgbClr val="E8791D"/>
                </a:solidFill>
                <a:latin typeface="Segoe UI"/>
              </a:rPr>
              <a:t>REGRAS FINAIS: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Não mude de estratégia agora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Não estude matéria nova na última semana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Confie no processo que você construiu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100" dirty="0">
                <a:solidFill>
                  <a:srgbClr val="C8C8C8"/>
                </a:solidFill>
                <a:latin typeface="Segoe UI"/>
              </a:rPr>
              <a:t>Descanse na véspera. Mente afiada vence.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335393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2" name="pn"/>
          <p:cNvSpPr/>
          <p:nvPr/>
        </p:nvSpPr>
        <p:spPr>
          <a:xfrm>
            <a:off x="11303000" y="12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19</a:t>
            </a:r>
          </a:p>
        </p:txBody>
      </p:sp>
      <p:sp>
        <p:nvSpPr>
          <p:cNvPr id="103" name="sec"/>
          <p:cNvSpPr/>
          <p:nvPr/>
        </p:nvSpPr>
        <p:spPr>
          <a:xfrm>
            <a:off x="609600" y="3048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PRÓXIMO NÍVEL</a:t>
            </a:r>
          </a:p>
        </p:txBody>
      </p:sp>
      <p:sp>
        <p:nvSpPr>
          <p:cNvPr id="104" name="div"/>
          <p:cNvSpPr/>
          <p:nvPr/>
        </p:nvSpPr>
        <p:spPr>
          <a:xfrm>
            <a:off x="609600" y="660400"/>
            <a:ext cx="2032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05" name="title"/>
          <p:cNvSpPr/>
          <p:nvPr/>
        </p:nvSpPr>
        <p:spPr>
          <a:xfrm>
            <a:off x="609600" y="787400"/>
            <a:ext cx="10972800" cy="635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2400" b="1" dirty="0">
                <a:solidFill>
                  <a:srgbClr val="F0F0F0"/>
                </a:solidFill>
                <a:latin typeface="Impact"/>
              </a:rPr>
              <a:t>Leve Sua Preparação ao Próximo Nível</a:t>
            </a:r>
          </a:p>
        </p:txBody>
      </p:sp>
      <p:sp>
        <p:nvSpPr>
          <p:cNvPr id="106" name="intro"/>
          <p:cNvSpPr/>
          <p:nvPr/>
        </p:nvSpPr>
        <p:spPr>
          <a:xfrm>
            <a:off x="609600" y="1524000"/>
            <a:ext cx="10972800" cy="635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l">
              <a:buNone/>
            </a:pPr>
            <a:r>
              <a:rPr lang="pt-BR" sz="1400" dirty="0">
                <a:solidFill>
                  <a:srgbClr val="C8C8C8"/>
                </a:solidFill>
                <a:latin typeface="Segoe UI"/>
              </a:rPr>
              <a:t>Você já tem o método. Agora imagine ter um estrategista ao seu lado, ajustando cada detalhe da sua preparação.</a:t>
            </a:r>
          </a:p>
        </p:txBody>
      </p:sp>
      <p:sp>
        <p:nvSpPr>
          <p:cNvPr id="110" name="cta1"/>
          <p:cNvSpPr/>
          <p:nvPr/>
        </p:nvSpPr>
        <p:spPr>
          <a:xfrm>
            <a:off x="609600" y="2349500"/>
            <a:ext cx="5461000" cy="317500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4A7C3F"/>
            </a:solidFill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E8791D"/>
                </a:solidFill>
                <a:latin typeface="Impact"/>
              </a:rPr>
              <a:t>CRONOGRAMA PERSONALIZADO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Cronograma feito sob medida para o seu cargo alvo, sua carga horária disponível e seu nível atual. Nenhum minuto desperdiçado.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4A7C3F"/>
                </a:solidFill>
                <a:latin typeface="Segoe UI"/>
              </a:rPr>
              <a:t>QUERO MEU CRONOGRAMA</a:t>
            </a:r>
          </a:p>
        </p:txBody>
      </p:sp>
      <p:sp>
        <p:nvSpPr>
          <p:cNvPr id="111" name="cta2"/>
          <p:cNvSpPr/>
          <p:nvPr/>
        </p:nvSpPr>
        <p:spPr>
          <a:xfrm>
            <a:off x="6273800" y="2349500"/>
            <a:ext cx="5461000" cy="317500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E8791D"/>
            </a:solidFill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800" b="1" dirty="0">
                <a:solidFill>
                  <a:srgbClr val="4A7C3F"/>
                </a:solidFill>
                <a:latin typeface="Impact"/>
              </a:rPr>
              <a:t>MENTORIA NÚCLEO TÁTICO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200" dirty="0">
                <a:solidFill>
                  <a:srgbClr val="C8C8C8"/>
                </a:solidFill>
                <a:latin typeface="Segoe UI"/>
              </a:rPr>
              <a:t>Acompanhamento individual com análise de desempenho, ajustes semanais e suporte direto do mentor. Para quem quer resultado real.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E8791D"/>
                </a:solidFill>
                <a:latin typeface="Segoe UI"/>
              </a:rPr>
              <a:t>QUERO A MENTORIA</a:t>
            </a:r>
          </a:p>
        </p:txBody>
      </p:sp>
      <p:sp>
        <p:nvSpPr>
          <p:cNvPr id="120" name="emp"/>
          <p:cNvSpPr/>
          <p:nvPr/>
        </p:nvSpPr>
        <p:spPr>
          <a:xfrm>
            <a:off x="609600" y="5715000"/>
            <a:ext cx="10972800" cy="571500"/>
          </a:xfrm>
          <a:prstGeom prst="rect">
            <a:avLst/>
          </a:prstGeom>
          <a:solidFill>
            <a:srgbClr val="1A2F1A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1200" b="1" dirty="0">
                <a:solidFill>
                  <a:srgbClr val="4A7C3F"/>
                </a:solidFill>
                <a:latin typeface="Segoe UI"/>
              </a:rPr>
              <a:t>O método é gratuito. O resultado depende de você. Mas com o suporte certo, você chega mais rápido.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114300" tIns="68580" rIns="114300" bIns="6858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38569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1" name="tb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32" name="pn"/>
          <p:cNvSpPr/>
          <p:nvPr/>
        </p:nvSpPr>
        <p:spPr>
          <a:xfrm>
            <a:off x="11176000" y="127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pt-BR" sz="1000" b="1" dirty="0">
                <a:solidFill>
                  <a:srgbClr val="4A7C3F"/>
                </a:solidFill>
                <a:latin typeface="Segoe UI"/>
              </a:rPr>
              <a:t>20</a:t>
            </a:r>
          </a:p>
        </p:txBody>
      </p:sp>
      <p:sp>
        <p:nvSpPr>
          <p:cNvPr id="103" name="brand"/>
          <p:cNvSpPr/>
          <p:nvPr/>
        </p:nvSpPr>
        <p:spPr>
          <a:xfrm>
            <a:off x="1270000" y="127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1400" b="1" spc="800" dirty="0">
                <a:solidFill>
                  <a:srgbClr val="4A7C3F"/>
                </a:solidFill>
                <a:latin typeface="Segoe UI"/>
              </a:rPr>
              <a:t>N Ú C L E O   T Á T I C O</a:t>
            </a:r>
          </a:p>
        </p:txBody>
      </p:sp>
      <p:sp>
        <p:nvSpPr>
          <p:cNvPr id="104" name="div1"/>
          <p:cNvSpPr/>
          <p:nvPr/>
        </p:nvSpPr>
        <p:spPr>
          <a:xfrm>
            <a:off x="4191000" y="1752600"/>
            <a:ext cx="3810000" cy="38100"/>
          </a:xfrm>
          <a:prstGeom prst="rect">
            <a:avLst/>
          </a:prstGeom>
          <a:solidFill>
            <a:srgbClr val="E8791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5" name="q1"/>
          <p:cNvSpPr/>
          <p:nvPr/>
        </p:nvSpPr>
        <p:spPr>
          <a:xfrm>
            <a:off x="1270000" y="20320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3600" b="1" dirty="0">
                <a:solidFill>
                  <a:srgbClr val="F0F0F0"/>
                </a:solidFill>
                <a:latin typeface="Impact"/>
              </a:rPr>
              <a:t>NÃO NEGOCIE</a:t>
            </a:r>
          </a:p>
        </p:txBody>
      </p:sp>
      <p:sp>
        <p:nvSpPr>
          <p:cNvPr id="106" name="q2"/>
          <p:cNvSpPr/>
          <p:nvPr/>
        </p:nvSpPr>
        <p:spPr>
          <a:xfrm>
            <a:off x="1270000" y="27305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3600" b="1" dirty="0">
                <a:solidFill>
                  <a:srgbClr val="E8791D"/>
                </a:solidFill>
                <a:latin typeface="Impact"/>
              </a:rPr>
              <a:t>COM SUA MENTE.</a:t>
            </a:r>
          </a:p>
        </p:txBody>
      </p:sp>
      <p:sp>
        <p:nvSpPr>
          <p:cNvPr id="107" name="body"/>
          <p:cNvSpPr/>
          <p:nvPr/>
        </p:nvSpPr>
        <p:spPr>
          <a:xfrm>
            <a:off x="1524000" y="3619500"/>
            <a:ext cx="9144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lnSpc>
                <a:spcPts val="2200"/>
              </a:lnSpc>
              <a:buNone/>
            </a:pPr>
            <a:r>
              <a:rPr lang="pt-BR" sz="1400" dirty="0">
                <a:solidFill>
                  <a:srgbClr val="C8C8C8"/>
                </a:solidFill>
                <a:latin typeface="Segoe UI"/>
              </a:rPr>
              <a:t>A aprovação é uma construção diária. Cada bloco de estudo, cada questão resolvida, cada erro analisado te aproxima do seu objetivo.</a:t>
            </a:r>
          </a:p>
          <a:p>
            <a:pPr algn="ctr">
              <a:lnSpc>
                <a:spcPts val="2200"/>
              </a:lnSpc>
              <a:buNone/>
            </a:pPr>
            <a:r>
              <a:rPr lang="pt-BR" sz="1400" b="1" dirty="0">
                <a:solidFill>
                  <a:srgbClr val="F0F0F0"/>
                </a:solidFill>
                <a:latin typeface="Segoe UI"/>
              </a:rPr>
              <a:t>Agora você tem o método. Execute.</a:t>
            </a:r>
          </a:p>
        </p:txBody>
      </p:sp>
      <p:sp>
        <p:nvSpPr>
          <p:cNvPr id="108" name="div2"/>
          <p:cNvSpPr/>
          <p:nvPr/>
        </p:nvSpPr>
        <p:spPr>
          <a:xfrm>
            <a:off x="4826000" y="4826000"/>
            <a:ext cx="2540000" cy="254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09" name="author"/>
          <p:cNvSpPr/>
          <p:nvPr/>
        </p:nvSpPr>
        <p:spPr>
          <a:xfrm>
            <a:off x="1270000" y="50165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1600" b="1" dirty="0">
                <a:solidFill>
                  <a:srgbClr val="F0F0F0"/>
                </a:solidFill>
                <a:latin typeface="Segoe UI"/>
              </a:rPr>
              <a:t>Matheus Florindo de Deus</a:t>
            </a:r>
          </a:p>
          <a:p>
            <a:pPr algn="ctr">
              <a:buNone/>
            </a:pPr>
            <a:r>
              <a:rPr lang="pt-BR" sz="1100" dirty="0">
                <a:solidFill>
                  <a:srgbClr val="A0A0A0"/>
                </a:solidFill>
                <a:latin typeface="Segoe UI"/>
              </a:rPr>
              <a:t>Fundador da Tropa Científica</a:t>
            </a:r>
          </a:p>
        </p:txBody>
      </p:sp>
      <p:sp>
        <p:nvSpPr>
          <p:cNvPr id="110" name="tropa"/>
          <p:cNvSpPr/>
          <p:nvPr/>
        </p:nvSpPr>
        <p:spPr>
          <a:xfrm>
            <a:off x="1270000" y="5778500"/>
            <a:ext cx="9652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900" spc="400" dirty="0">
                <a:solidFill>
                  <a:srgbClr val="666666"/>
                </a:solidFill>
                <a:latin typeface="Segoe UI"/>
              </a:rPr>
              <a:t>TROPA CIENTÍFICA</a:t>
            </a:r>
          </a:p>
        </p:txBody>
      </p:sp>
      <p:sp>
        <p:nvSpPr>
          <p:cNvPr id="130" name="fb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pt-BR"/>
          </a:p>
        </p:txBody>
      </p:sp>
      <p:sp>
        <p:nvSpPr>
          <p:cNvPr id="131" name="ft"/>
          <p:cNvSpPr/>
          <p:nvPr/>
        </p:nvSpPr>
        <p:spPr>
          <a:xfrm>
            <a:off x="0" y="6527800"/>
            <a:ext cx="1219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pt-BR" sz="800" dirty="0">
                <a:solidFill>
                  <a:srgbClr val="4A7C3F"/>
                </a:solidFill>
                <a:latin typeface="Segoe UI"/>
              </a:rPr>
              <a:t>Núcleo Tático  •  Tropa Científica  •  Matheus Florindo  |  NÃO NEGOCIE COM SUA MENTE!</a:t>
            </a:r>
          </a:p>
        </p:txBody>
      </p:sp>
    </p:spTree>
    <p:extLst>
      <p:ext uri="{BB962C8B-B14F-4D97-AF65-F5344CB8AC3E}">
        <p14:creationId xmlns:p14="http://schemas.microsoft.com/office/powerpoint/2010/main" val="92951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cleo Tatico">
      <a:dk1>
        <a:srgbClr val="F0F0F0"/>
      </a:dk1>
      <a:lt1>
        <a:srgbClr val="0A0E1A"/>
      </a:lt1>
      <a:dk2>
        <a:srgbClr val="C8C8C8"/>
      </a:dk2>
      <a:lt2>
        <a:srgbClr val="141B2D"/>
      </a:lt2>
      <a:accent1>
        <a:srgbClr val="4A7C3F"/>
      </a:accent1>
      <a:accent2>
        <a:srgbClr val="E8791D"/>
      </a:accent2>
      <a:accent3>
        <a:srgbClr val="2D5A3D"/>
      </a:accent3>
      <a:accent4>
        <a:srgbClr val="D4A843"/>
      </a:accent4>
      <a:accent5>
        <a:srgbClr val="1E3A5F"/>
      </a:accent5>
      <a:accent6>
        <a:srgbClr val="8B4513"/>
      </a:accent6>
      <a:hlink>
        <a:srgbClr val="E8791D"/>
      </a:hlink>
      <a:folHlink>
        <a:srgbClr val="4A7C3F"/>
      </a:folHlink>
    </a:clrScheme>
    <a:fontScheme name="Nucleo Tatico">
      <a:majorFont>
        <a:latin typeface="Impac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4545cd-c46d-434b-bfe8-aa9d95a98bb7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dcmitype/"/>
    <ds:schemaRef ds:uri="f577acbf-5b0b-4b4f-9948-268e97f8d3a4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b1e4d6ee-9f6f-43f8-a618-24f3d84da28f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3468</TotalTime>
  <Words>2384</Words>
  <Application>Microsoft Office PowerPoint</Application>
  <PresentationFormat>Widescreen</PresentationFormat>
  <Paragraphs>373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Impact</vt:lpstr>
      <vt:lpstr>Segoe UI</vt:lpstr>
      <vt:lpstr>Segoe UI Symbol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Matheus Florindo</cp:lastModifiedBy>
  <cp:revision>3</cp:revision>
  <dcterms:created xsi:type="dcterms:W3CDTF">2018-06-07T21:39:02Z</dcterms:created>
  <dcterms:modified xsi:type="dcterms:W3CDTF">2026-02-27T21:25:47Z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